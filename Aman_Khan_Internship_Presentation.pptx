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999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12675B-7298-F09F-545B-3D25D5F04D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3215DB-F143-DAFD-786C-C1FD083AEC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8EC1BD-3C72-F39F-FF86-DA657A2CE4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B3382C-BADD-9AE7-2E03-52625C9F64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B78F10-C3E2-1602-5B49-BA338F7300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B56D9D-1CB0-4ABC-B28F-41CFB368BB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78CB65-9405-3411-7AB1-8317E813EC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68433A-8986-22B4-EF6E-F8F3AF5F78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147ABD-F3C4-1F4F-E9D1-DF0AFB5C1E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F08DB3-08F2-204D-AEA0-1285BD50EC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6F55E-469F-6A04-DF1B-D3A23B3EEE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25623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0195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18138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865066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7069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269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26686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7075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956022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1331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22669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31594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06169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46832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855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727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37183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37412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84976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752461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58997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866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21163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656306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9193853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232699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507753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214698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520719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28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083493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975161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1442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10011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219817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2005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4384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715371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996835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27519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200470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1911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445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89207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267782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21778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64829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21117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945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80091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62143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21126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83631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466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45324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81559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76437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78614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77598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00117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217520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5704751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2130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719725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4333320" name="Rectangle 2"/>
          <p:cNvSpPr/>
          <p:nvPr/>
        </p:nvSpPr>
        <p:spPr bwMode="auto">
          <a:xfrm>
            <a:off x="0" y="0"/>
            <a:ext cx="3657600" cy="685800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36516437" name="Picture 3" descr="iilm_logo_cropp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7240" y="594360"/>
            <a:ext cx="2057400" cy="2285751"/>
          </a:xfrm>
          <a:prstGeom prst="rect">
            <a:avLst/>
          </a:prstGeom>
        </p:spPr>
      </p:pic>
      <p:sp>
        <p:nvSpPr>
          <p:cNvPr id="257514759" name="TextBox 4"/>
          <p:cNvSpPr txBox="1"/>
          <p:nvPr/>
        </p:nvSpPr>
        <p:spPr bwMode="auto">
          <a:xfrm>
            <a:off x="502920" y="2514600"/>
            <a:ext cx="26517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/>
              <a:t>IILM UNIVERSITY</a:t>
            </a:r>
            <a:endParaRPr/>
          </a:p>
        </p:txBody>
      </p:sp>
      <p:sp>
        <p:nvSpPr>
          <p:cNvPr id="217463402" name="TextBox 5"/>
          <p:cNvSpPr txBox="1"/>
          <p:nvPr/>
        </p:nvSpPr>
        <p:spPr bwMode="auto">
          <a:xfrm>
            <a:off x="502920" y="2999232"/>
            <a:ext cx="2651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rPr/>
              <a:t>GREATER NOIDA</a:t>
            </a:r>
            <a:endParaRPr/>
          </a:p>
        </p:txBody>
      </p:sp>
      <p:sp>
        <p:nvSpPr>
          <p:cNvPr id="1712865176" name="TextBox 6"/>
          <p:cNvSpPr txBox="1"/>
          <p:nvPr/>
        </p:nvSpPr>
        <p:spPr bwMode="auto">
          <a:xfrm>
            <a:off x="4160519" y="777240"/>
            <a:ext cx="73152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000" b="1">
                <a:solidFill>
                  <a:srgbClr val="18345C"/>
                </a:solidFill>
                <a:latin typeface="Aptos"/>
              </a:defRPr>
            </a:pPr>
            <a:r>
              <a:rPr/>
              <a:t>INTERNSHIP REPORT</a:t>
            </a:r>
            <a:endParaRPr/>
          </a:p>
        </p:txBody>
      </p:sp>
      <p:sp>
        <p:nvSpPr>
          <p:cNvPr id="468356376" name="TextBox 7"/>
          <p:cNvSpPr txBox="1"/>
          <p:nvPr/>
        </p:nvSpPr>
        <p:spPr bwMode="auto">
          <a:xfrm>
            <a:off x="4187952" y="1417320"/>
            <a:ext cx="704088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600" b="1">
                <a:solidFill>
                  <a:srgbClr val="B41A28"/>
                </a:solidFill>
                <a:latin typeface="Aptos"/>
              </a:defRPr>
            </a:pPr>
            <a:r>
              <a:rPr/>
              <a:t>HTML &amp; CSS</a:t>
            </a:r>
            <a:br>
              <a:rPr/>
            </a:br>
            <a:r>
              <a:rPr/>
              <a:t>RESPONSIVE LANDING PAGE</a:t>
            </a:r>
            <a:endParaRPr/>
          </a:p>
        </p:txBody>
      </p:sp>
      <p:sp>
        <p:nvSpPr>
          <p:cNvPr id="2079226973" name="TextBox 8"/>
          <p:cNvSpPr txBox="1"/>
          <p:nvPr/>
        </p:nvSpPr>
        <p:spPr bwMode="auto">
          <a:xfrm>
            <a:off x="4206240" y="2560320"/>
            <a:ext cx="6675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66707D"/>
                </a:solidFill>
                <a:latin typeface="Aptos"/>
              </a:defRPr>
            </a:pPr>
            <a:r>
              <a:rPr/>
              <a:t>Internship Presentation</a:t>
            </a:r>
            <a:endParaRPr/>
          </a:p>
        </p:txBody>
      </p:sp>
      <p:sp>
        <p:nvSpPr>
          <p:cNvPr id="772832188" name="TextBox 9"/>
          <p:cNvSpPr txBox="1"/>
          <p:nvPr/>
        </p:nvSpPr>
        <p:spPr bwMode="auto">
          <a:xfrm>
            <a:off x="4206240" y="324612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66707D"/>
                </a:solidFill>
                <a:latin typeface="Aptos"/>
              </a:defRPr>
            </a:pPr>
            <a:r>
              <a:rPr/>
              <a:t>Presented by</a:t>
            </a:r>
            <a:endParaRPr/>
          </a:p>
        </p:txBody>
      </p:sp>
      <p:sp>
        <p:nvSpPr>
          <p:cNvPr id="1716317512" name="TextBox 10"/>
          <p:cNvSpPr txBox="1"/>
          <p:nvPr/>
        </p:nvSpPr>
        <p:spPr bwMode="auto">
          <a:xfrm>
            <a:off x="4206240" y="3611880"/>
            <a:ext cx="6858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8345C"/>
                </a:solidFill>
                <a:latin typeface="Aptos"/>
              </a:defRPr>
            </a:pPr>
            <a:r>
              <a:rPr/>
              <a:t>AMAN KHAN</a:t>
            </a:r>
            <a:endParaRPr/>
          </a:p>
        </p:txBody>
      </p:sp>
      <p:sp>
        <p:nvSpPr>
          <p:cNvPr id="1862383864" name="TextBox 11"/>
          <p:cNvSpPr txBox="1"/>
          <p:nvPr/>
        </p:nvSpPr>
        <p:spPr bwMode="auto">
          <a:xfrm>
            <a:off x="4206240" y="4114800"/>
            <a:ext cx="6858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B.Tech – Computer Science &amp; Engineering</a:t>
            </a:r>
            <a:endParaRPr/>
          </a:p>
        </p:txBody>
      </p:sp>
      <p:sp>
        <p:nvSpPr>
          <p:cNvPr id="1604880182" name="TextBox 12"/>
          <p:cNvSpPr txBox="1"/>
          <p:nvPr/>
        </p:nvSpPr>
        <p:spPr bwMode="auto">
          <a:xfrm>
            <a:off x="4206240" y="4572000"/>
            <a:ext cx="6858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IILM University, Greater Noida, U.P.</a:t>
            </a:r>
            <a:endParaRPr/>
          </a:p>
        </p:txBody>
      </p:sp>
      <p:sp>
        <p:nvSpPr>
          <p:cNvPr id="204403961" name="TextBox 13"/>
          <p:cNvSpPr txBox="1"/>
          <p:nvPr/>
        </p:nvSpPr>
        <p:spPr bwMode="auto">
          <a:xfrm>
            <a:off x="4206240" y="5074920"/>
            <a:ext cx="6858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21st August 2026 – 03rd September 2026</a:t>
            </a:r>
            <a:endParaRPr/>
          </a:p>
        </p:txBody>
      </p:sp>
      <p:sp>
        <p:nvSpPr>
          <p:cNvPr id="1886146793" name="TextBox 14"/>
          <p:cNvSpPr txBox="1"/>
          <p:nvPr/>
        </p:nvSpPr>
        <p:spPr bwMode="auto">
          <a:xfrm>
            <a:off x="4206240" y="5715000"/>
            <a:ext cx="6858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66707D"/>
                </a:solidFill>
                <a:latin typeface="Aptos"/>
              </a:defRPr>
            </a:pPr>
            <a:r>
              <a:rPr/>
              <a:t>Internship Organization: JUST INTERNSHIP</a:t>
            </a:r>
            <a:endParaRPr/>
          </a:p>
        </p:txBody>
      </p:sp>
      <p:sp>
        <p:nvSpPr>
          <p:cNvPr id="351816871" name="TextBox 15"/>
          <p:cNvSpPr txBox="1"/>
          <p:nvPr/>
        </p:nvSpPr>
        <p:spPr bwMode="auto">
          <a:xfrm>
            <a:off x="4206240" y="6053328"/>
            <a:ext cx="6858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6707D"/>
                </a:solidFill>
                <a:latin typeface="Aptos"/>
              </a:defRPr>
            </a:pPr>
            <a:r>
              <a:rPr/>
              <a:t>2026–27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377569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4473555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755940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ABOUT THE STUDENT</a:t>
            </a:r>
            <a:endParaRPr/>
          </a:p>
        </p:txBody>
      </p:sp>
      <p:sp>
        <p:nvSpPr>
          <p:cNvPr id="1208390713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Candidate Profile</a:t>
            </a:r>
            <a:endParaRPr/>
          </a:p>
        </p:txBody>
      </p:sp>
      <p:sp>
        <p:nvSpPr>
          <p:cNvPr id="2033600253" name="Rounded Rectangle 5"/>
          <p:cNvSpPr/>
          <p:nvPr/>
        </p:nvSpPr>
        <p:spPr bwMode="auto">
          <a:xfrm>
            <a:off x="640080" y="1508759"/>
            <a:ext cx="3474720" cy="434340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1232537" name="Rectangle 6"/>
          <p:cNvSpPr/>
          <p:nvPr/>
        </p:nvSpPr>
        <p:spPr bwMode="auto">
          <a:xfrm>
            <a:off x="640080" y="1508759"/>
            <a:ext cx="73152" cy="434340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323340" name="TextBox 7"/>
          <p:cNvSpPr txBox="1"/>
          <p:nvPr/>
        </p:nvSpPr>
        <p:spPr bwMode="auto">
          <a:xfrm>
            <a:off x="868680" y="1673351"/>
            <a:ext cx="3063238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Aman Khan</a:t>
            </a:r>
            <a:endParaRPr/>
          </a:p>
        </p:txBody>
      </p:sp>
      <p:sp>
        <p:nvSpPr>
          <p:cNvPr id="1820933722" name="TextBox 8"/>
          <p:cNvSpPr txBox="1"/>
          <p:nvPr/>
        </p:nvSpPr>
        <p:spPr bwMode="auto">
          <a:xfrm>
            <a:off x="868680" y="2075688"/>
            <a:ext cx="3063238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B.Tech – Computer Science &amp; Engineering</a:t>
            </a:r>
            <a:br>
              <a:rPr/>
            </a:br>
            <a:br>
              <a:rPr/>
            </a:br>
            <a:r>
              <a:rPr/>
              <a:t>Internship Domain</a:t>
            </a:r>
            <a:br>
              <a:rPr/>
            </a:br>
            <a:r>
              <a:rPr/>
              <a:t>Front-End Web Development</a:t>
            </a:r>
            <a:br>
              <a:rPr/>
            </a:br>
            <a:br>
              <a:rPr/>
            </a:br>
            <a:r>
              <a:rPr/>
              <a:t>Project</a:t>
            </a:r>
            <a:br>
              <a:rPr/>
            </a:br>
            <a:r>
              <a:rPr/>
              <a:t>HTML &amp; CSS Responsive Landing Page</a:t>
            </a:r>
            <a:endParaRPr/>
          </a:p>
        </p:txBody>
      </p:sp>
      <p:sp>
        <p:nvSpPr>
          <p:cNvPr id="1013977194" name="TextBox 9"/>
          <p:cNvSpPr txBox="1"/>
          <p:nvPr/>
        </p:nvSpPr>
        <p:spPr bwMode="auto">
          <a:xfrm>
            <a:off x="4572000" y="1481328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66707D"/>
                </a:solidFill>
                <a:latin typeface="Aptos"/>
              </a:defRPr>
            </a:pPr>
            <a:r>
              <a:rPr/>
              <a:t>Roll Number</a:t>
            </a:r>
            <a:endParaRPr/>
          </a:p>
        </p:txBody>
      </p:sp>
      <p:sp>
        <p:nvSpPr>
          <p:cNvPr id="1612063452" name="TextBox 10"/>
          <p:cNvSpPr txBox="1"/>
          <p:nvPr/>
        </p:nvSpPr>
        <p:spPr bwMode="auto">
          <a:xfrm>
            <a:off x="6446520" y="1481328"/>
            <a:ext cx="4766759" cy="289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[</a:t>
            </a:r>
            <a:r>
              <a:rPr lang="en-IN"/>
              <a:t>25SCS1003005490</a:t>
            </a:r>
            <a:r>
              <a:rPr/>
              <a:t>]</a:t>
            </a:r>
            <a:endParaRPr/>
          </a:p>
        </p:txBody>
      </p:sp>
      <p:sp>
        <p:nvSpPr>
          <p:cNvPr id="730960334" name="TextBox 11"/>
          <p:cNvSpPr txBox="1"/>
          <p:nvPr/>
        </p:nvSpPr>
        <p:spPr bwMode="auto">
          <a:xfrm>
            <a:off x="4572000" y="2258568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66707D"/>
                </a:solidFill>
                <a:latin typeface="Aptos"/>
              </a:defRPr>
            </a:pPr>
            <a:r>
              <a:rPr/>
              <a:t>Institute</a:t>
            </a:r>
            <a:endParaRPr/>
          </a:p>
        </p:txBody>
      </p:sp>
      <p:sp>
        <p:nvSpPr>
          <p:cNvPr id="1279747089" name="TextBox 12"/>
          <p:cNvSpPr txBox="1"/>
          <p:nvPr/>
        </p:nvSpPr>
        <p:spPr bwMode="auto">
          <a:xfrm>
            <a:off x="6446520" y="2258568"/>
            <a:ext cx="4754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IILM University, Greater Noida, U.P.</a:t>
            </a:r>
            <a:endParaRPr/>
          </a:p>
        </p:txBody>
      </p:sp>
      <p:sp>
        <p:nvSpPr>
          <p:cNvPr id="1398711408" name="TextBox 13"/>
          <p:cNvSpPr txBox="1"/>
          <p:nvPr/>
        </p:nvSpPr>
        <p:spPr bwMode="auto">
          <a:xfrm>
            <a:off x="4572000" y="3035808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66707D"/>
                </a:solidFill>
                <a:latin typeface="Aptos"/>
              </a:defRPr>
            </a:pPr>
            <a:r>
              <a:rPr/>
              <a:t>Programme</a:t>
            </a:r>
            <a:endParaRPr/>
          </a:p>
        </p:txBody>
      </p:sp>
      <p:sp>
        <p:nvSpPr>
          <p:cNvPr id="262167064" name="TextBox 14"/>
          <p:cNvSpPr txBox="1"/>
          <p:nvPr/>
        </p:nvSpPr>
        <p:spPr bwMode="auto">
          <a:xfrm>
            <a:off x="6446520" y="3035808"/>
            <a:ext cx="4754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B.Tech CSE</a:t>
            </a:r>
            <a:endParaRPr/>
          </a:p>
        </p:txBody>
      </p:sp>
      <p:sp>
        <p:nvSpPr>
          <p:cNvPr id="523696512" name="TextBox 15"/>
          <p:cNvSpPr txBox="1"/>
          <p:nvPr/>
        </p:nvSpPr>
        <p:spPr bwMode="auto">
          <a:xfrm>
            <a:off x="4572000" y="3813048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66707D"/>
                </a:solidFill>
                <a:latin typeface="Aptos"/>
              </a:defRPr>
            </a:pPr>
            <a:r>
              <a:rPr/>
              <a:t>Internship Duration</a:t>
            </a:r>
            <a:endParaRPr/>
          </a:p>
        </p:txBody>
      </p:sp>
      <p:sp>
        <p:nvSpPr>
          <p:cNvPr id="988678603" name="TextBox 16"/>
          <p:cNvSpPr txBox="1"/>
          <p:nvPr/>
        </p:nvSpPr>
        <p:spPr bwMode="auto">
          <a:xfrm>
            <a:off x="6446520" y="3813048"/>
            <a:ext cx="4754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21st Aug – 03rd Sep 2026</a:t>
            </a:r>
            <a:endParaRPr/>
          </a:p>
        </p:txBody>
      </p:sp>
      <p:sp>
        <p:nvSpPr>
          <p:cNvPr id="1075177190" name="TextBox 17"/>
          <p:cNvSpPr txBox="1"/>
          <p:nvPr/>
        </p:nvSpPr>
        <p:spPr bwMode="auto">
          <a:xfrm>
            <a:off x="4572000" y="4590288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66707D"/>
                </a:solidFill>
                <a:latin typeface="Aptos"/>
              </a:defRPr>
            </a:pPr>
            <a:r>
              <a:rPr/>
              <a:t>Organization</a:t>
            </a:r>
            <a:endParaRPr/>
          </a:p>
        </p:txBody>
      </p:sp>
      <p:sp>
        <p:nvSpPr>
          <p:cNvPr id="1117229410" name="TextBox 18"/>
          <p:cNvSpPr txBox="1"/>
          <p:nvPr/>
        </p:nvSpPr>
        <p:spPr bwMode="auto">
          <a:xfrm>
            <a:off x="6446520" y="4590288"/>
            <a:ext cx="4754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232A32"/>
                </a:solidFill>
                <a:latin typeface="Aptos"/>
              </a:defRPr>
            </a:pPr>
            <a:r>
              <a:rPr/>
              <a:t>Just Internship</a:t>
            </a:r>
            <a:endParaRPr/>
          </a:p>
        </p:txBody>
      </p:sp>
      <p:sp>
        <p:nvSpPr>
          <p:cNvPr id="1410929585" name="Rectangle 19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4259093" name="TextBox 20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778726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3647181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4558428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ABOUT THE INTERNSHIP</a:t>
            </a:r>
            <a:endParaRPr/>
          </a:p>
        </p:txBody>
      </p:sp>
      <p:sp>
        <p:nvSpPr>
          <p:cNvPr id="865367487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Project-based Front-End Web Development</a:t>
            </a:r>
            <a:endParaRPr/>
          </a:p>
        </p:txBody>
      </p:sp>
      <p:sp>
        <p:nvSpPr>
          <p:cNvPr id="1812883704" name="Rounded Rectangle 5"/>
          <p:cNvSpPr/>
          <p:nvPr/>
        </p:nvSpPr>
        <p:spPr bwMode="auto">
          <a:xfrm>
            <a:off x="685800" y="1508759"/>
            <a:ext cx="3383280" cy="42519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5974770" name="Rectangle 6"/>
          <p:cNvSpPr/>
          <p:nvPr/>
        </p:nvSpPr>
        <p:spPr bwMode="auto">
          <a:xfrm>
            <a:off x="685800" y="1508759"/>
            <a:ext cx="73152" cy="425196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992668" name="TextBox 7"/>
          <p:cNvSpPr txBox="1"/>
          <p:nvPr/>
        </p:nvSpPr>
        <p:spPr bwMode="auto">
          <a:xfrm>
            <a:off x="914400" y="1673351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Internship Focus</a:t>
            </a:r>
            <a:endParaRPr/>
          </a:p>
        </p:txBody>
      </p:sp>
      <p:sp>
        <p:nvSpPr>
          <p:cNvPr id="352370206" name="TextBox 8"/>
          <p:cNvSpPr txBox="1"/>
          <p:nvPr/>
        </p:nvSpPr>
        <p:spPr bwMode="auto">
          <a:xfrm>
            <a:off x="914400" y="2075688"/>
            <a:ext cx="29718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A practical, task-based learning experience focused on building a responsive static landing page using browser-native front-end technologies.</a:t>
            </a:r>
            <a:endParaRPr/>
          </a:p>
        </p:txBody>
      </p:sp>
      <p:sp>
        <p:nvSpPr>
          <p:cNvPr id="2037995182" name="Rounded Rectangle 9"/>
          <p:cNvSpPr/>
          <p:nvPr/>
        </p:nvSpPr>
        <p:spPr bwMode="auto">
          <a:xfrm>
            <a:off x="4407408" y="1508759"/>
            <a:ext cx="3383280" cy="42519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1136112" name="Rectangle 10"/>
          <p:cNvSpPr/>
          <p:nvPr/>
        </p:nvSpPr>
        <p:spPr bwMode="auto">
          <a:xfrm>
            <a:off x="4407408" y="1508759"/>
            <a:ext cx="73152" cy="425196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0756476" name="TextBox 11"/>
          <p:cNvSpPr txBox="1"/>
          <p:nvPr/>
        </p:nvSpPr>
        <p:spPr bwMode="auto">
          <a:xfrm>
            <a:off x="4636008" y="1673351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Core Technologies</a:t>
            </a:r>
            <a:endParaRPr/>
          </a:p>
        </p:txBody>
      </p:sp>
      <p:sp>
        <p:nvSpPr>
          <p:cNvPr id="1094989102" name="TextBox 12"/>
          <p:cNvSpPr txBox="1"/>
          <p:nvPr/>
        </p:nvSpPr>
        <p:spPr bwMode="auto">
          <a:xfrm>
            <a:off x="4636008" y="2075688"/>
            <a:ext cx="29718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HTML5</a:t>
            </a:r>
            <a:br>
              <a:rPr/>
            </a:br>
            <a:r>
              <a:rPr/>
              <a:t>CSS3</a:t>
            </a:r>
            <a:br>
              <a:rPr/>
            </a:br>
            <a:r>
              <a:rPr/>
              <a:t>Flexbox</a:t>
            </a:r>
            <a:br>
              <a:rPr/>
            </a:br>
            <a:r>
              <a:rPr/>
              <a:t>CSS Grid</a:t>
            </a:r>
            <a:br>
              <a:rPr/>
            </a:br>
            <a:r>
              <a:rPr/>
              <a:t>Media Queries</a:t>
            </a:r>
            <a:br>
              <a:rPr/>
            </a:br>
            <a:r>
              <a:rPr/>
              <a:t>Vanilla JavaScript</a:t>
            </a:r>
            <a:endParaRPr/>
          </a:p>
        </p:txBody>
      </p:sp>
      <p:sp>
        <p:nvSpPr>
          <p:cNvPr id="1367587143" name="Rounded Rectangle 13"/>
          <p:cNvSpPr/>
          <p:nvPr/>
        </p:nvSpPr>
        <p:spPr bwMode="auto">
          <a:xfrm>
            <a:off x="8138160" y="1508759"/>
            <a:ext cx="3383280" cy="42519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7748972" name="Rectangle 14"/>
          <p:cNvSpPr/>
          <p:nvPr/>
        </p:nvSpPr>
        <p:spPr bwMode="auto">
          <a:xfrm>
            <a:off x="8138160" y="1508759"/>
            <a:ext cx="73152" cy="425196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015408" name="TextBox 15"/>
          <p:cNvSpPr txBox="1"/>
          <p:nvPr/>
        </p:nvSpPr>
        <p:spPr bwMode="auto">
          <a:xfrm>
            <a:off x="8366760" y="1673351"/>
            <a:ext cx="2971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Development Approach</a:t>
            </a:r>
            <a:endParaRPr/>
          </a:p>
        </p:txBody>
      </p:sp>
      <p:sp>
        <p:nvSpPr>
          <p:cNvPr id="2109818835" name="TextBox 16"/>
          <p:cNvSpPr txBox="1"/>
          <p:nvPr/>
        </p:nvSpPr>
        <p:spPr bwMode="auto">
          <a:xfrm>
            <a:off x="8366760" y="2075688"/>
            <a:ext cx="29718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Progressive implementation from semantic structure to styling, responsive design, interactive navigation, and static deployment readiness.</a:t>
            </a:r>
            <a:endParaRPr/>
          </a:p>
        </p:txBody>
      </p:sp>
      <p:sp>
        <p:nvSpPr>
          <p:cNvPr id="316615326" name="Rectangle 17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6782708" name="TextBox 18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170645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7931236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137715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PROBLEM STATEMENT</a:t>
            </a:r>
            <a:endParaRPr/>
          </a:p>
        </p:txBody>
      </p:sp>
      <p:sp>
        <p:nvSpPr>
          <p:cNvPr id="2116578100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Bridging HTML/CSS fundamentals with practical responsive development</a:t>
            </a:r>
            <a:endParaRPr/>
          </a:p>
        </p:txBody>
      </p:sp>
      <p:sp>
        <p:nvSpPr>
          <p:cNvPr id="1076131957" name="TextBox 5"/>
          <p:cNvSpPr txBox="1"/>
          <p:nvPr/>
        </p:nvSpPr>
        <p:spPr bwMode="auto">
          <a:xfrm>
            <a:off x="777240" y="1508759"/>
            <a:ext cx="106070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>
                <a:solidFill>
                  <a:srgbClr val="18345C"/>
                </a:solidFill>
                <a:latin typeface="Aptos"/>
              </a:defRPr>
            </a:pPr>
            <a:r>
              <a:rPr/>
              <a:t>Building a landing page that is clear, maintainable and usable across screen sizes requires more than writing static markup.</a:t>
            </a:r>
            <a:endParaRPr/>
          </a:p>
        </p:txBody>
      </p:sp>
      <p:sp>
        <p:nvSpPr>
          <p:cNvPr id="532372405" name="TextBox 6"/>
          <p:cNvSpPr txBox="1"/>
          <p:nvPr/>
        </p:nvSpPr>
        <p:spPr bwMode="auto">
          <a:xfrm>
            <a:off x="914400" y="2423160"/>
            <a:ext cx="5486400" cy="292608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Poorly structured HTML can make a page difficult to maintain.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Desktop-only layouts can become difficult to use on tablets and mobile devices.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Inconsistent CSS can reduce visual hierarchy and make future changes harder.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Interactive mobile navigation requires basic DOM and event-handling knowledge.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The project addressed these gaps through a step-by-step implementation using HTML, CSS and Vanilla JavaScript.</a:t>
            </a:r>
            <a:endParaRPr/>
          </a:p>
        </p:txBody>
      </p:sp>
      <p:sp>
        <p:nvSpPr>
          <p:cNvPr id="1045563042" name="Rounded Rectangle 7"/>
          <p:cNvSpPr/>
          <p:nvPr/>
        </p:nvSpPr>
        <p:spPr bwMode="auto">
          <a:xfrm>
            <a:off x="6903720" y="1920240"/>
            <a:ext cx="1143000" cy="233172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4958120" name="Rectangle 8"/>
          <p:cNvSpPr/>
          <p:nvPr/>
        </p:nvSpPr>
        <p:spPr bwMode="auto">
          <a:xfrm>
            <a:off x="6903720" y="1920240"/>
            <a:ext cx="73152" cy="233172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7218610" name="TextBox 9"/>
          <p:cNvSpPr txBox="1"/>
          <p:nvPr/>
        </p:nvSpPr>
        <p:spPr bwMode="auto">
          <a:xfrm>
            <a:off x="7132320" y="2084832"/>
            <a:ext cx="731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STRUCTURE</a:t>
            </a:r>
            <a:endParaRPr/>
          </a:p>
        </p:txBody>
      </p:sp>
      <p:sp>
        <p:nvSpPr>
          <p:cNvPr id="1938029211" name="TextBox 10"/>
          <p:cNvSpPr txBox="1"/>
          <p:nvPr/>
        </p:nvSpPr>
        <p:spPr bwMode="auto">
          <a:xfrm>
            <a:off x="7132320" y="2487168"/>
            <a:ext cx="731520" cy="1645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Semantic HTML</a:t>
            </a:r>
            <a:endParaRPr/>
          </a:p>
        </p:txBody>
      </p:sp>
      <p:sp>
        <p:nvSpPr>
          <p:cNvPr id="2022079697" name="Rounded Rectangle 11"/>
          <p:cNvSpPr/>
          <p:nvPr/>
        </p:nvSpPr>
        <p:spPr bwMode="auto">
          <a:xfrm>
            <a:off x="8138160" y="1920240"/>
            <a:ext cx="1143000" cy="233172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4472441" name="Rectangle 12"/>
          <p:cNvSpPr/>
          <p:nvPr/>
        </p:nvSpPr>
        <p:spPr bwMode="auto">
          <a:xfrm>
            <a:off x="8138160" y="1920240"/>
            <a:ext cx="73152" cy="233172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5018829" name="TextBox 13"/>
          <p:cNvSpPr txBox="1"/>
          <p:nvPr/>
        </p:nvSpPr>
        <p:spPr bwMode="auto">
          <a:xfrm>
            <a:off x="8366760" y="2084832"/>
            <a:ext cx="731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STYLE</a:t>
            </a:r>
            <a:endParaRPr/>
          </a:p>
        </p:txBody>
      </p:sp>
      <p:sp>
        <p:nvSpPr>
          <p:cNvPr id="329460900" name="TextBox 14"/>
          <p:cNvSpPr txBox="1"/>
          <p:nvPr/>
        </p:nvSpPr>
        <p:spPr bwMode="auto">
          <a:xfrm>
            <a:off x="8366760" y="2487168"/>
            <a:ext cx="731520" cy="1645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CSS Theme</a:t>
            </a:r>
            <a:endParaRPr/>
          </a:p>
        </p:txBody>
      </p:sp>
      <p:sp>
        <p:nvSpPr>
          <p:cNvPr id="1625741800" name="Rounded Rectangle 15"/>
          <p:cNvSpPr/>
          <p:nvPr/>
        </p:nvSpPr>
        <p:spPr bwMode="auto">
          <a:xfrm>
            <a:off x="9372600" y="1920240"/>
            <a:ext cx="1143000" cy="233172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831245" name="Rectangle 16"/>
          <p:cNvSpPr/>
          <p:nvPr/>
        </p:nvSpPr>
        <p:spPr bwMode="auto">
          <a:xfrm>
            <a:off x="9372600" y="1920240"/>
            <a:ext cx="73152" cy="233172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7111460" name="TextBox 17"/>
          <p:cNvSpPr txBox="1"/>
          <p:nvPr/>
        </p:nvSpPr>
        <p:spPr bwMode="auto">
          <a:xfrm>
            <a:off x="9601200" y="2084832"/>
            <a:ext cx="731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RESPOND</a:t>
            </a:r>
            <a:endParaRPr/>
          </a:p>
        </p:txBody>
      </p:sp>
      <p:sp>
        <p:nvSpPr>
          <p:cNvPr id="1256069495" name="TextBox 18"/>
          <p:cNvSpPr txBox="1"/>
          <p:nvPr/>
        </p:nvSpPr>
        <p:spPr bwMode="auto">
          <a:xfrm>
            <a:off x="9601200" y="2487168"/>
            <a:ext cx="731520" cy="1645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Flexbox / Grid</a:t>
            </a:r>
            <a:endParaRPr/>
          </a:p>
        </p:txBody>
      </p:sp>
      <p:sp>
        <p:nvSpPr>
          <p:cNvPr id="612569215" name="Rounded Rectangle 19"/>
          <p:cNvSpPr/>
          <p:nvPr/>
        </p:nvSpPr>
        <p:spPr bwMode="auto">
          <a:xfrm>
            <a:off x="10607040" y="1920240"/>
            <a:ext cx="1143000" cy="233172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562570" name="Rectangle 20"/>
          <p:cNvSpPr/>
          <p:nvPr/>
        </p:nvSpPr>
        <p:spPr bwMode="auto">
          <a:xfrm>
            <a:off x="10607040" y="1920240"/>
            <a:ext cx="73152" cy="233172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4364215" name="TextBox 21"/>
          <p:cNvSpPr txBox="1"/>
          <p:nvPr/>
        </p:nvSpPr>
        <p:spPr bwMode="auto">
          <a:xfrm>
            <a:off x="10835640" y="2084832"/>
            <a:ext cx="731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INTERACT</a:t>
            </a:r>
            <a:endParaRPr/>
          </a:p>
        </p:txBody>
      </p:sp>
      <p:sp>
        <p:nvSpPr>
          <p:cNvPr id="1094971219" name="TextBox 22"/>
          <p:cNvSpPr txBox="1"/>
          <p:nvPr/>
        </p:nvSpPr>
        <p:spPr bwMode="auto">
          <a:xfrm>
            <a:off x="10835640" y="2487168"/>
            <a:ext cx="731520" cy="16459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JavaScript</a:t>
            </a:r>
            <a:endParaRPr/>
          </a:p>
        </p:txBody>
      </p:sp>
      <p:sp>
        <p:nvSpPr>
          <p:cNvPr id="1590283378" name="Rectangle 23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1246178" name="TextBox 24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95930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0255877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5069525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PROJECT OBJECTIVES</a:t>
            </a:r>
            <a:endParaRPr/>
          </a:p>
        </p:txBody>
      </p:sp>
      <p:sp>
        <p:nvSpPr>
          <p:cNvPr id="732889709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What the internship set out to achieve</a:t>
            </a:r>
            <a:endParaRPr/>
          </a:p>
        </p:txBody>
      </p:sp>
      <p:sp>
        <p:nvSpPr>
          <p:cNvPr id="1551406015" name="Rounded Rectangle 5"/>
          <p:cNvSpPr/>
          <p:nvPr/>
        </p:nvSpPr>
        <p:spPr bwMode="auto">
          <a:xfrm>
            <a:off x="685800" y="1417320"/>
            <a:ext cx="3017519" cy="17830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480460" name="Rectangle 6"/>
          <p:cNvSpPr/>
          <p:nvPr/>
        </p:nvSpPr>
        <p:spPr bwMode="auto">
          <a:xfrm>
            <a:off x="685800" y="1417320"/>
            <a:ext cx="73152" cy="17830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859007" name="TextBox 7"/>
          <p:cNvSpPr txBox="1"/>
          <p:nvPr/>
        </p:nvSpPr>
        <p:spPr bwMode="auto">
          <a:xfrm>
            <a:off x="914400" y="1581912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Semantic HTML</a:t>
            </a:r>
            <a:endParaRPr/>
          </a:p>
        </p:txBody>
      </p:sp>
      <p:sp>
        <p:nvSpPr>
          <p:cNvPr id="24657103" name="TextBox 8"/>
          <p:cNvSpPr txBox="1"/>
          <p:nvPr/>
        </p:nvSpPr>
        <p:spPr bwMode="auto">
          <a:xfrm>
            <a:off x="914400" y="1984248"/>
            <a:ext cx="2606039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Create a meaningful page structure using HTML5 elements and internal navigation.</a:t>
            </a:r>
            <a:endParaRPr/>
          </a:p>
        </p:txBody>
      </p:sp>
      <p:sp>
        <p:nvSpPr>
          <p:cNvPr id="2113126927" name="TextBox 9"/>
          <p:cNvSpPr txBox="1"/>
          <p:nvPr/>
        </p:nvSpPr>
        <p:spPr bwMode="auto">
          <a:xfrm rot="0">
            <a:off x="806576" y="1421892"/>
            <a:ext cx="411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01</a:t>
            </a:r>
            <a:endParaRPr/>
          </a:p>
        </p:txBody>
      </p:sp>
      <p:sp>
        <p:nvSpPr>
          <p:cNvPr id="682891918" name="Rounded Rectangle 10"/>
          <p:cNvSpPr/>
          <p:nvPr/>
        </p:nvSpPr>
        <p:spPr bwMode="auto">
          <a:xfrm>
            <a:off x="4069080" y="1417320"/>
            <a:ext cx="3017519" cy="17830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536581" name="Rectangle 11"/>
          <p:cNvSpPr/>
          <p:nvPr/>
        </p:nvSpPr>
        <p:spPr bwMode="auto">
          <a:xfrm>
            <a:off x="4069080" y="1417320"/>
            <a:ext cx="73152" cy="178308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5926107" name="TextBox 12"/>
          <p:cNvSpPr txBox="1"/>
          <p:nvPr/>
        </p:nvSpPr>
        <p:spPr bwMode="auto">
          <a:xfrm>
            <a:off x="4297680" y="1581912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CSS Styling</a:t>
            </a:r>
            <a:endParaRPr/>
          </a:p>
        </p:txBody>
      </p:sp>
      <p:sp>
        <p:nvSpPr>
          <p:cNvPr id="198270731" name="TextBox 13"/>
          <p:cNvSpPr txBox="1"/>
          <p:nvPr/>
        </p:nvSpPr>
        <p:spPr bwMode="auto">
          <a:xfrm>
            <a:off x="4297680" y="1984248"/>
            <a:ext cx="2606039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Apply typography, colours, spacing, borders and reusable theme variables.</a:t>
            </a:r>
            <a:endParaRPr/>
          </a:p>
        </p:txBody>
      </p:sp>
      <p:sp>
        <p:nvSpPr>
          <p:cNvPr id="663982710" name="TextBox 14"/>
          <p:cNvSpPr txBox="1"/>
          <p:nvPr/>
        </p:nvSpPr>
        <p:spPr bwMode="auto">
          <a:xfrm>
            <a:off x="4160519" y="1421892"/>
            <a:ext cx="411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02</a:t>
            </a:r>
            <a:endParaRPr/>
          </a:p>
        </p:txBody>
      </p:sp>
      <p:sp>
        <p:nvSpPr>
          <p:cNvPr id="580702815" name="Rounded Rectangle 15"/>
          <p:cNvSpPr/>
          <p:nvPr/>
        </p:nvSpPr>
        <p:spPr bwMode="auto">
          <a:xfrm>
            <a:off x="7452360" y="1417320"/>
            <a:ext cx="3017519" cy="17830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0500738" name="Rectangle 16"/>
          <p:cNvSpPr/>
          <p:nvPr/>
        </p:nvSpPr>
        <p:spPr bwMode="auto">
          <a:xfrm>
            <a:off x="7452360" y="1417320"/>
            <a:ext cx="73152" cy="17830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489049" name="TextBox 17"/>
          <p:cNvSpPr txBox="1"/>
          <p:nvPr/>
        </p:nvSpPr>
        <p:spPr bwMode="auto">
          <a:xfrm>
            <a:off x="7680960" y="1581912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Responsive Layout</a:t>
            </a:r>
            <a:endParaRPr/>
          </a:p>
        </p:txBody>
      </p:sp>
      <p:sp>
        <p:nvSpPr>
          <p:cNvPr id="1524975671" name="TextBox 18"/>
          <p:cNvSpPr txBox="1"/>
          <p:nvPr/>
        </p:nvSpPr>
        <p:spPr bwMode="auto">
          <a:xfrm>
            <a:off x="7680960" y="1984248"/>
            <a:ext cx="2606039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Use Flexbox, Grid and media queries for desktop, tablet and mobile.</a:t>
            </a:r>
            <a:endParaRPr/>
          </a:p>
        </p:txBody>
      </p:sp>
      <p:sp>
        <p:nvSpPr>
          <p:cNvPr id="263030704" name="TextBox 19"/>
          <p:cNvSpPr txBox="1"/>
          <p:nvPr/>
        </p:nvSpPr>
        <p:spPr bwMode="auto">
          <a:xfrm>
            <a:off x="7525512" y="1421892"/>
            <a:ext cx="411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03</a:t>
            </a:r>
            <a:endParaRPr/>
          </a:p>
        </p:txBody>
      </p:sp>
      <p:sp>
        <p:nvSpPr>
          <p:cNvPr id="1643310627" name="Rounded Rectangle 20"/>
          <p:cNvSpPr/>
          <p:nvPr/>
        </p:nvSpPr>
        <p:spPr bwMode="auto">
          <a:xfrm>
            <a:off x="685800" y="3657600"/>
            <a:ext cx="3017519" cy="17830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191527" name="Rectangle 21"/>
          <p:cNvSpPr/>
          <p:nvPr/>
        </p:nvSpPr>
        <p:spPr bwMode="auto">
          <a:xfrm>
            <a:off x="685800" y="3657600"/>
            <a:ext cx="73152" cy="17830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535324" name="TextBox 22"/>
          <p:cNvSpPr txBox="1"/>
          <p:nvPr/>
        </p:nvSpPr>
        <p:spPr bwMode="auto">
          <a:xfrm>
            <a:off x="914400" y="3822191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JavaScript</a:t>
            </a:r>
            <a:endParaRPr/>
          </a:p>
        </p:txBody>
      </p:sp>
      <p:sp>
        <p:nvSpPr>
          <p:cNvPr id="497288572" name="TextBox 23"/>
          <p:cNvSpPr txBox="1"/>
          <p:nvPr/>
        </p:nvSpPr>
        <p:spPr bwMode="auto">
          <a:xfrm>
            <a:off x="914400" y="4224528"/>
            <a:ext cx="2606039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Implement a responsive hamburger menu using DOM events and class toggling.</a:t>
            </a:r>
            <a:endParaRPr/>
          </a:p>
        </p:txBody>
      </p:sp>
      <p:sp>
        <p:nvSpPr>
          <p:cNvPr id="1325354709" name="TextBox 24"/>
          <p:cNvSpPr txBox="1"/>
          <p:nvPr/>
        </p:nvSpPr>
        <p:spPr bwMode="auto">
          <a:xfrm>
            <a:off x="758952" y="3662170"/>
            <a:ext cx="411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04</a:t>
            </a:r>
            <a:endParaRPr/>
          </a:p>
        </p:txBody>
      </p:sp>
      <p:sp>
        <p:nvSpPr>
          <p:cNvPr id="402616479" name="Rounded Rectangle 25"/>
          <p:cNvSpPr/>
          <p:nvPr/>
        </p:nvSpPr>
        <p:spPr bwMode="auto">
          <a:xfrm>
            <a:off x="4069080" y="3657600"/>
            <a:ext cx="3017519" cy="17830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2584966" name="Rectangle 26"/>
          <p:cNvSpPr/>
          <p:nvPr/>
        </p:nvSpPr>
        <p:spPr bwMode="auto">
          <a:xfrm>
            <a:off x="4069080" y="3657600"/>
            <a:ext cx="73152" cy="178308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8106250" name="TextBox 27"/>
          <p:cNvSpPr txBox="1"/>
          <p:nvPr/>
        </p:nvSpPr>
        <p:spPr bwMode="auto">
          <a:xfrm>
            <a:off x="4297680" y="3822191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Maintainability</a:t>
            </a:r>
            <a:endParaRPr/>
          </a:p>
        </p:txBody>
      </p:sp>
      <p:sp>
        <p:nvSpPr>
          <p:cNvPr id="344210081" name="TextBox 28"/>
          <p:cNvSpPr txBox="1"/>
          <p:nvPr/>
        </p:nvSpPr>
        <p:spPr bwMode="auto">
          <a:xfrm>
            <a:off x="4297680" y="4224528"/>
            <a:ext cx="2606039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Keep HTML, CSS and JavaScript responsibilities clearly separated.</a:t>
            </a:r>
            <a:endParaRPr/>
          </a:p>
        </p:txBody>
      </p:sp>
      <p:sp>
        <p:nvSpPr>
          <p:cNvPr id="1316657045" name="TextBox 29"/>
          <p:cNvSpPr txBox="1"/>
          <p:nvPr/>
        </p:nvSpPr>
        <p:spPr bwMode="auto">
          <a:xfrm>
            <a:off x="4160519" y="3595971"/>
            <a:ext cx="411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05</a:t>
            </a:r>
            <a:endParaRPr/>
          </a:p>
        </p:txBody>
      </p:sp>
      <p:sp>
        <p:nvSpPr>
          <p:cNvPr id="2125276618" name="Rounded Rectangle 30"/>
          <p:cNvSpPr/>
          <p:nvPr/>
        </p:nvSpPr>
        <p:spPr bwMode="auto">
          <a:xfrm>
            <a:off x="7452360" y="3657600"/>
            <a:ext cx="3017519" cy="17830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7301313" name="Rectangle 31"/>
          <p:cNvSpPr/>
          <p:nvPr/>
        </p:nvSpPr>
        <p:spPr bwMode="auto">
          <a:xfrm>
            <a:off x="7452360" y="3657600"/>
            <a:ext cx="73152" cy="178308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4069104" name="TextBox 32"/>
          <p:cNvSpPr txBox="1"/>
          <p:nvPr/>
        </p:nvSpPr>
        <p:spPr bwMode="auto">
          <a:xfrm>
            <a:off x="7680960" y="3822191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Deployment Readiness</a:t>
            </a:r>
            <a:endParaRPr/>
          </a:p>
        </p:txBody>
      </p:sp>
      <p:sp>
        <p:nvSpPr>
          <p:cNvPr id="915971445" name="TextBox 33"/>
          <p:cNvSpPr txBox="1"/>
          <p:nvPr/>
        </p:nvSpPr>
        <p:spPr bwMode="auto">
          <a:xfrm>
            <a:off x="7680960" y="4224528"/>
            <a:ext cx="2606039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Prepare the framework-free static project for possible hosting.</a:t>
            </a:r>
            <a:endParaRPr/>
          </a:p>
        </p:txBody>
      </p:sp>
      <p:sp>
        <p:nvSpPr>
          <p:cNvPr id="538979538" name="TextBox 34"/>
          <p:cNvSpPr txBox="1"/>
          <p:nvPr/>
        </p:nvSpPr>
        <p:spPr bwMode="auto">
          <a:xfrm>
            <a:off x="7525512" y="3662170"/>
            <a:ext cx="411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06</a:t>
            </a:r>
            <a:endParaRPr/>
          </a:p>
        </p:txBody>
      </p:sp>
      <p:sp>
        <p:nvSpPr>
          <p:cNvPr id="1594140236" name="Rectangle 35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4067542" name="TextBox 36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358119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9718543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0269025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TECHNOLOGIES &amp; TOOLS</a:t>
            </a:r>
            <a:endParaRPr/>
          </a:p>
        </p:txBody>
      </p:sp>
      <p:sp>
        <p:nvSpPr>
          <p:cNvPr id="1251141148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The toolkit behind the internship</a:t>
            </a:r>
            <a:endParaRPr/>
          </a:p>
        </p:txBody>
      </p:sp>
      <p:sp>
        <p:nvSpPr>
          <p:cNvPr id="1426272567" name="Rounded Rectangle 5"/>
          <p:cNvSpPr/>
          <p:nvPr/>
        </p:nvSpPr>
        <p:spPr bwMode="auto">
          <a:xfrm>
            <a:off x="685800" y="141732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8056116" name="Rectangle 6"/>
          <p:cNvSpPr/>
          <p:nvPr/>
        </p:nvSpPr>
        <p:spPr bwMode="auto">
          <a:xfrm>
            <a:off x="685800" y="1417320"/>
            <a:ext cx="73152" cy="123444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4381226" name="TextBox 7"/>
          <p:cNvSpPr txBox="1"/>
          <p:nvPr/>
        </p:nvSpPr>
        <p:spPr bwMode="auto">
          <a:xfrm>
            <a:off x="914400" y="158191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HTML5</a:t>
            </a:r>
            <a:endParaRPr/>
          </a:p>
        </p:txBody>
      </p:sp>
      <p:sp>
        <p:nvSpPr>
          <p:cNvPr id="1902334054" name="TextBox 8"/>
          <p:cNvSpPr txBox="1"/>
          <p:nvPr/>
        </p:nvSpPr>
        <p:spPr bwMode="auto">
          <a:xfrm>
            <a:off x="914400" y="198424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Semantic structure and page content</a:t>
            </a:r>
            <a:endParaRPr/>
          </a:p>
        </p:txBody>
      </p:sp>
      <p:sp>
        <p:nvSpPr>
          <p:cNvPr id="97252557" name="Rounded Rectangle 9"/>
          <p:cNvSpPr/>
          <p:nvPr/>
        </p:nvSpPr>
        <p:spPr bwMode="auto">
          <a:xfrm>
            <a:off x="3977639" y="141732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3519050" name="Rectangle 10"/>
          <p:cNvSpPr/>
          <p:nvPr/>
        </p:nvSpPr>
        <p:spPr bwMode="auto">
          <a:xfrm>
            <a:off x="3977639" y="1417320"/>
            <a:ext cx="73152" cy="123444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9316137" name="TextBox 11"/>
          <p:cNvSpPr txBox="1"/>
          <p:nvPr/>
        </p:nvSpPr>
        <p:spPr bwMode="auto">
          <a:xfrm>
            <a:off x="4206240" y="158191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CSS3</a:t>
            </a:r>
            <a:endParaRPr/>
          </a:p>
        </p:txBody>
      </p:sp>
      <p:sp>
        <p:nvSpPr>
          <p:cNvPr id="1282823443" name="TextBox 12"/>
          <p:cNvSpPr txBox="1"/>
          <p:nvPr/>
        </p:nvSpPr>
        <p:spPr bwMode="auto">
          <a:xfrm>
            <a:off x="4206240" y="198424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Styling, theme, spacing and visual hierarchy</a:t>
            </a:r>
            <a:endParaRPr/>
          </a:p>
        </p:txBody>
      </p:sp>
      <p:sp>
        <p:nvSpPr>
          <p:cNvPr id="2054752688" name="Rounded Rectangle 13"/>
          <p:cNvSpPr/>
          <p:nvPr/>
        </p:nvSpPr>
        <p:spPr bwMode="auto">
          <a:xfrm>
            <a:off x="7269480" y="141732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3597151" name="Rectangle 14"/>
          <p:cNvSpPr/>
          <p:nvPr/>
        </p:nvSpPr>
        <p:spPr bwMode="auto">
          <a:xfrm>
            <a:off x="7269480" y="1417320"/>
            <a:ext cx="73152" cy="123444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763517" name="TextBox 15"/>
          <p:cNvSpPr txBox="1"/>
          <p:nvPr/>
        </p:nvSpPr>
        <p:spPr bwMode="auto">
          <a:xfrm>
            <a:off x="7498079" y="158191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Flexbox</a:t>
            </a:r>
            <a:endParaRPr/>
          </a:p>
        </p:txBody>
      </p:sp>
      <p:sp>
        <p:nvSpPr>
          <p:cNvPr id="1650710904" name="TextBox 16"/>
          <p:cNvSpPr txBox="1"/>
          <p:nvPr/>
        </p:nvSpPr>
        <p:spPr bwMode="auto">
          <a:xfrm>
            <a:off x="7498079" y="198424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One-dimensional alignment and flexible layouts</a:t>
            </a:r>
            <a:endParaRPr/>
          </a:p>
        </p:txBody>
      </p:sp>
      <p:sp>
        <p:nvSpPr>
          <p:cNvPr id="860339551" name="Rounded Rectangle 17"/>
          <p:cNvSpPr/>
          <p:nvPr/>
        </p:nvSpPr>
        <p:spPr bwMode="auto">
          <a:xfrm>
            <a:off x="685800" y="306324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825039" name="Rectangle 18"/>
          <p:cNvSpPr/>
          <p:nvPr/>
        </p:nvSpPr>
        <p:spPr bwMode="auto">
          <a:xfrm>
            <a:off x="685800" y="3063240"/>
            <a:ext cx="73152" cy="123444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8986295" name="TextBox 19"/>
          <p:cNvSpPr txBox="1"/>
          <p:nvPr/>
        </p:nvSpPr>
        <p:spPr bwMode="auto">
          <a:xfrm>
            <a:off x="914400" y="322783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CSS Grid</a:t>
            </a:r>
            <a:endParaRPr/>
          </a:p>
        </p:txBody>
      </p:sp>
      <p:sp>
        <p:nvSpPr>
          <p:cNvPr id="313819748" name="TextBox 20"/>
          <p:cNvSpPr txBox="1"/>
          <p:nvPr/>
        </p:nvSpPr>
        <p:spPr bwMode="auto">
          <a:xfrm>
            <a:off x="914400" y="363016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Two-dimensional card and content layouts</a:t>
            </a:r>
            <a:endParaRPr/>
          </a:p>
        </p:txBody>
      </p:sp>
      <p:sp>
        <p:nvSpPr>
          <p:cNvPr id="2092727701" name="Rounded Rectangle 21"/>
          <p:cNvSpPr/>
          <p:nvPr/>
        </p:nvSpPr>
        <p:spPr bwMode="auto">
          <a:xfrm>
            <a:off x="3977639" y="306324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7218291" name="Rectangle 22"/>
          <p:cNvSpPr/>
          <p:nvPr/>
        </p:nvSpPr>
        <p:spPr bwMode="auto">
          <a:xfrm>
            <a:off x="3977639" y="3063240"/>
            <a:ext cx="73152" cy="123444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393822" name="TextBox 23"/>
          <p:cNvSpPr txBox="1"/>
          <p:nvPr/>
        </p:nvSpPr>
        <p:spPr bwMode="auto">
          <a:xfrm>
            <a:off x="4206240" y="322783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Media Queries</a:t>
            </a:r>
            <a:endParaRPr/>
          </a:p>
        </p:txBody>
      </p:sp>
      <p:sp>
        <p:nvSpPr>
          <p:cNvPr id="88227495" name="TextBox 24"/>
          <p:cNvSpPr txBox="1"/>
          <p:nvPr/>
        </p:nvSpPr>
        <p:spPr bwMode="auto">
          <a:xfrm>
            <a:off x="4206240" y="363016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Responsive behaviour across viewport sizes</a:t>
            </a:r>
            <a:endParaRPr/>
          </a:p>
        </p:txBody>
      </p:sp>
      <p:sp>
        <p:nvSpPr>
          <p:cNvPr id="787501363" name="Rounded Rectangle 25"/>
          <p:cNvSpPr/>
          <p:nvPr/>
        </p:nvSpPr>
        <p:spPr bwMode="auto">
          <a:xfrm>
            <a:off x="7269480" y="306324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4612333" name="Rectangle 26"/>
          <p:cNvSpPr/>
          <p:nvPr/>
        </p:nvSpPr>
        <p:spPr bwMode="auto">
          <a:xfrm>
            <a:off x="7269480" y="3063240"/>
            <a:ext cx="73152" cy="123444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7522830" name="TextBox 27"/>
          <p:cNvSpPr txBox="1"/>
          <p:nvPr/>
        </p:nvSpPr>
        <p:spPr bwMode="auto">
          <a:xfrm>
            <a:off x="7498079" y="322783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Vanilla JavaScript</a:t>
            </a:r>
            <a:endParaRPr/>
          </a:p>
        </p:txBody>
      </p:sp>
      <p:sp>
        <p:nvSpPr>
          <p:cNvPr id="1270379584" name="TextBox 28"/>
          <p:cNvSpPr txBox="1"/>
          <p:nvPr/>
        </p:nvSpPr>
        <p:spPr bwMode="auto">
          <a:xfrm>
            <a:off x="7498079" y="363016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DOM interaction and mobile navigation</a:t>
            </a:r>
            <a:endParaRPr/>
          </a:p>
        </p:txBody>
      </p:sp>
      <p:sp>
        <p:nvSpPr>
          <p:cNvPr id="1053343358" name="Rounded Rectangle 29"/>
          <p:cNvSpPr/>
          <p:nvPr/>
        </p:nvSpPr>
        <p:spPr bwMode="auto">
          <a:xfrm>
            <a:off x="3977639" y="4709160"/>
            <a:ext cx="2880360" cy="123444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1301746" name="Rectangle 30"/>
          <p:cNvSpPr/>
          <p:nvPr/>
        </p:nvSpPr>
        <p:spPr bwMode="auto">
          <a:xfrm>
            <a:off x="3977639" y="4709160"/>
            <a:ext cx="73152" cy="123444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261111" name="TextBox 31"/>
          <p:cNvSpPr txBox="1"/>
          <p:nvPr/>
        </p:nvSpPr>
        <p:spPr bwMode="auto">
          <a:xfrm>
            <a:off x="4206240" y="4873752"/>
            <a:ext cx="24688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Static Hosting</a:t>
            </a:r>
            <a:endParaRPr/>
          </a:p>
        </p:txBody>
      </p:sp>
      <p:sp>
        <p:nvSpPr>
          <p:cNvPr id="58545037" name="TextBox 32"/>
          <p:cNvSpPr txBox="1"/>
          <p:nvPr/>
        </p:nvSpPr>
        <p:spPr bwMode="auto">
          <a:xfrm>
            <a:off x="4206240" y="5276088"/>
            <a:ext cx="2468879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Readiness for Netlify, Vercel or GitHub Pages</a:t>
            </a:r>
            <a:endParaRPr/>
          </a:p>
        </p:txBody>
      </p:sp>
      <p:sp>
        <p:nvSpPr>
          <p:cNvPr id="2087135186" name="Rectangle 33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7997109" name="TextBox 34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91405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9758286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0076971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SYSTEM ARCHITECTURE</a:t>
            </a:r>
            <a:endParaRPr/>
          </a:p>
        </p:txBody>
      </p:sp>
      <p:sp>
        <p:nvSpPr>
          <p:cNvPr id="383825406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From structured page to responsive interactive website</a:t>
            </a:r>
            <a:endParaRPr/>
          </a:p>
        </p:txBody>
      </p:sp>
      <p:sp>
        <p:nvSpPr>
          <p:cNvPr id="1785180527" name="Rounded Rectangle 5"/>
          <p:cNvSpPr/>
          <p:nvPr/>
        </p:nvSpPr>
        <p:spPr bwMode="auto">
          <a:xfrm>
            <a:off x="2834640" y="1371600"/>
            <a:ext cx="64922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6341210" name="TextBox 6"/>
          <p:cNvSpPr txBox="1"/>
          <p:nvPr/>
        </p:nvSpPr>
        <p:spPr bwMode="auto">
          <a:xfrm>
            <a:off x="3063240" y="1481328"/>
            <a:ext cx="1691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HTML LAYER</a:t>
            </a:r>
            <a:endParaRPr/>
          </a:p>
        </p:txBody>
      </p:sp>
      <p:sp>
        <p:nvSpPr>
          <p:cNvPr id="1400845633" name="TextBox 7"/>
          <p:cNvSpPr txBox="1"/>
          <p:nvPr/>
        </p:nvSpPr>
        <p:spPr bwMode="auto">
          <a:xfrm>
            <a:off x="4709160" y="1481328"/>
            <a:ext cx="3337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  <a:latin typeface="Aptos"/>
              </a:defRPr>
            </a:pPr>
            <a:r>
              <a:rPr/>
              <a:t>Semantic document structure</a:t>
            </a:r>
            <a:endParaRPr/>
          </a:p>
        </p:txBody>
      </p:sp>
      <p:sp>
        <p:nvSpPr>
          <p:cNvPr id="1675458782" name="TextBox 8"/>
          <p:cNvSpPr txBox="1"/>
          <p:nvPr/>
        </p:nvSpPr>
        <p:spPr bwMode="auto">
          <a:xfrm>
            <a:off x="8001000" y="1481328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1">
                <a:solidFill>
                  <a:srgbClr val="18345C"/>
                </a:solidFill>
                <a:latin typeface="Aptos"/>
              </a:defRPr>
            </a:pPr>
            <a:r>
              <a:rPr/>
              <a:t>HTML5</a:t>
            </a:r>
            <a:endParaRPr/>
          </a:p>
        </p:txBody>
      </p:sp>
      <p:sp>
        <p:nvSpPr>
          <p:cNvPr id="1147879788" name="TextBox 9"/>
          <p:cNvSpPr txBox="1"/>
          <p:nvPr/>
        </p:nvSpPr>
        <p:spPr bwMode="auto">
          <a:xfrm>
            <a:off x="5669280" y="2121408"/>
            <a:ext cx="457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B41A28"/>
                </a:solidFill>
                <a:latin typeface="Aptos"/>
              </a:defRPr>
            </a:pPr>
            <a:r>
              <a:rPr/>
              <a:t>↓</a:t>
            </a:r>
            <a:endParaRPr/>
          </a:p>
        </p:txBody>
      </p:sp>
      <p:sp>
        <p:nvSpPr>
          <p:cNvPr id="2008549630" name="Rounded Rectangle 10"/>
          <p:cNvSpPr/>
          <p:nvPr/>
        </p:nvSpPr>
        <p:spPr bwMode="auto">
          <a:xfrm>
            <a:off x="2834640" y="2359152"/>
            <a:ext cx="64922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0365829" name="TextBox 11"/>
          <p:cNvSpPr txBox="1"/>
          <p:nvPr/>
        </p:nvSpPr>
        <p:spPr bwMode="auto">
          <a:xfrm>
            <a:off x="3063240" y="2468880"/>
            <a:ext cx="1691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STYLE LAYER</a:t>
            </a:r>
            <a:endParaRPr/>
          </a:p>
        </p:txBody>
      </p:sp>
      <p:sp>
        <p:nvSpPr>
          <p:cNvPr id="33594134" name="TextBox 12"/>
          <p:cNvSpPr txBox="1"/>
          <p:nvPr/>
        </p:nvSpPr>
        <p:spPr bwMode="auto">
          <a:xfrm>
            <a:off x="4709160" y="2468880"/>
            <a:ext cx="3337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  <a:latin typeface="Aptos"/>
              </a:defRPr>
            </a:pPr>
            <a:r>
              <a:rPr/>
              <a:t>Theme, typography, spacing and visual design</a:t>
            </a:r>
            <a:endParaRPr/>
          </a:p>
        </p:txBody>
      </p:sp>
      <p:sp>
        <p:nvSpPr>
          <p:cNvPr id="1449432717" name="TextBox 13"/>
          <p:cNvSpPr txBox="1"/>
          <p:nvPr/>
        </p:nvSpPr>
        <p:spPr bwMode="auto">
          <a:xfrm>
            <a:off x="8001000" y="246888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1">
                <a:solidFill>
                  <a:srgbClr val="18345C"/>
                </a:solidFill>
                <a:latin typeface="Aptos"/>
              </a:defRPr>
            </a:pPr>
            <a:r>
              <a:rPr/>
              <a:t>CSS3</a:t>
            </a:r>
            <a:endParaRPr/>
          </a:p>
        </p:txBody>
      </p:sp>
      <p:sp>
        <p:nvSpPr>
          <p:cNvPr id="2057676234" name="TextBox 14"/>
          <p:cNvSpPr txBox="1"/>
          <p:nvPr/>
        </p:nvSpPr>
        <p:spPr bwMode="auto">
          <a:xfrm>
            <a:off x="5669280" y="3108960"/>
            <a:ext cx="457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B41A28"/>
                </a:solidFill>
                <a:latin typeface="Aptos"/>
              </a:defRPr>
            </a:pPr>
            <a:r>
              <a:rPr/>
              <a:t>↓</a:t>
            </a:r>
            <a:endParaRPr/>
          </a:p>
        </p:txBody>
      </p:sp>
      <p:sp>
        <p:nvSpPr>
          <p:cNvPr id="1039375986" name="Rounded Rectangle 15"/>
          <p:cNvSpPr/>
          <p:nvPr/>
        </p:nvSpPr>
        <p:spPr bwMode="auto">
          <a:xfrm>
            <a:off x="2834640" y="3346704"/>
            <a:ext cx="64922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8631931" name="TextBox 16"/>
          <p:cNvSpPr txBox="1"/>
          <p:nvPr/>
        </p:nvSpPr>
        <p:spPr bwMode="auto">
          <a:xfrm>
            <a:off x="3063240" y="3456432"/>
            <a:ext cx="1691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LAYOUT LAYER</a:t>
            </a:r>
            <a:endParaRPr/>
          </a:p>
        </p:txBody>
      </p:sp>
      <p:sp>
        <p:nvSpPr>
          <p:cNvPr id="1308607990" name="TextBox 17"/>
          <p:cNvSpPr txBox="1"/>
          <p:nvPr/>
        </p:nvSpPr>
        <p:spPr bwMode="auto">
          <a:xfrm>
            <a:off x="4709160" y="3456432"/>
            <a:ext cx="3337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  <a:latin typeface="Aptos"/>
              </a:defRPr>
            </a:pPr>
            <a:r>
              <a:rPr/>
              <a:t>Flexbox, Grid and media queries</a:t>
            </a:r>
            <a:endParaRPr/>
          </a:p>
        </p:txBody>
      </p:sp>
      <p:sp>
        <p:nvSpPr>
          <p:cNvPr id="773588591" name="TextBox 18"/>
          <p:cNvSpPr txBox="1"/>
          <p:nvPr/>
        </p:nvSpPr>
        <p:spPr bwMode="auto">
          <a:xfrm>
            <a:off x="8001000" y="3456432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1">
                <a:solidFill>
                  <a:srgbClr val="18345C"/>
                </a:solidFill>
                <a:latin typeface="Aptos"/>
              </a:defRPr>
            </a:pPr>
            <a:r>
              <a:rPr/>
              <a:t>Responsive CSS</a:t>
            </a:r>
            <a:endParaRPr/>
          </a:p>
        </p:txBody>
      </p:sp>
      <p:sp>
        <p:nvSpPr>
          <p:cNvPr id="1111410666" name="TextBox 19"/>
          <p:cNvSpPr txBox="1"/>
          <p:nvPr/>
        </p:nvSpPr>
        <p:spPr bwMode="auto">
          <a:xfrm>
            <a:off x="5669280" y="4096512"/>
            <a:ext cx="457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B41A28"/>
                </a:solidFill>
                <a:latin typeface="Aptos"/>
              </a:defRPr>
            </a:pPr>
            <a:r>
              <a:rPr/>
              <a:t>↓</a:t>
            </a:r>
            <a:endParaRPr/>
          </a:p>
        </p:txBody>
      </p:sp>
      <p:sp>
        <p:nvSpPr>
          <p:cNvPr id="1334941722" name="Rounded Rectangle 20"/>
          <p:cNvSpPr/>
          <p:nvPr/>
        </p:nvSpPr>
        <p:spPr bwMode="auto">
          <a:xfrm>
            <a:off x="2834640" y="4334256"/>
            <a:ext cx="64922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4324495" name="TextBox 21"/>
          <p:cNvSpPr txBox="1"/>
          <p:nvPr/>
        </p:nvSpPr>
        <p:spPr bwMode="auto">
          <a:xfrm>
            <a:off x="3063240" y="4443984"/>
            <a:ext cx="1691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B41A28"/>
                </a:solidFill>
                <a:latin typeface="Aptos"/>
              </a:defRPr>
            </a:pPr>
            <a:r>
              <a:rPr/>
              <a:t>INTERACTION LAYER</a:t>
            </a:r>
            <a:endParaRPr/>
          </a:p>
        </p:txBody>
      </p:sp>
      <p:sp>
        <p:nvSpPr>
          <p:cNvPr id="882781037" name="TextBox 22"/>
          <p:cNvSpPr txBox="1"/>
          <p:nvPr/>
        </p:nvSpPr>
        <p:spPr bwMode="auto">
          <a:xfrm>
            <a:off x="4709160" y="4443984"/>
            <a:ext cx="3337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232A32"/>
                </a:solidFill>
                <a:latin typeface="Aptos"/>
              </a:defRPr>
            </a:pPr>
            <a:r>
              <a:rPr/>
              <a:t>DOM events and class toggling</a:t>
            </a:r>
            <a:endParaRPr/>
          </a:p>
        </p:txBody>
      </p:sp>
      <p:sp>
        <p:nvSpPr>
          <p:cNvPr id="1713784490" name="TextBox 23"/>
          <p:cNvSpPr txBox="1"/>
          <p:nvPr/>
        </p:nvSpPr>
        <p:spPr bwMode="auto">
          <a:xfrm>
            <a:off x="8001000" y="4443984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1">
                <a:solidFill>
                  <a:srgbClr val="18345C"/>
                </a:solidFill>
                <a:latin typeface="Aptos"/>
              </a:defRPr>
            </a:pPr>
            <a:r>
              <a:rPr/>
              <a:t>Vanilla JavaScript</a:t>
            </a:r>
            <a:endParaRPr/>
          </a:p>
        </p:txBody>
      </p:sp>
      <p:sp>
        <p:nvSpPr>
          <p:cNvPr id="602929454" name="TextBox 24"/>
          <p:cNvSpPr txBox="1"/>
          <p:nvPr/>
        </p:nvSpPr>
        <p:spPr bwMode="auto">
          <a:xfrm>
            <a:off x="5669280" y="5084064"/>
            <a:ext cx="4572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B41A28"/>
                </a:solidFill>
                <a:latin typeface="Aptos"/>
              </a:defRPr>
            </a:pPr>
            <a:r>
              <a:rPr/>
              <a:t>↓</a:t>
            </a:r>
            <a:endParaRPr/>
          </a:p>
        </p:txBody>
      </p:sp>
      <p:sp>
        <p:nvSpPr>
          <p:cNvPr id="228532293" name="Rounded Rectangle 25"/>
          <p:cNvSpPr/>
          <p:nvPr/>
        </p:nvSpPr>
        <p:spPr bwMode="auto">
          <a:xfrm>
            <a:off x="2834640" y="5321808"/>
            <a:ext cx="6492240" cy="713232"/>
          </a:xfrm>
          <a:prstGeom prst="roundRect">
            <a:avLst>
              <a:gd name="adj" fmla="val 16667"/>
            </a:avLst>
          </a:prstGeom>
          <a:solidFill>
            <a:srgbClr val="18345C"/>
          </a:solidFill>
          <a:ln>
            <a:solidFill>
              <a:srgbClr val="183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6993699" name="TextBox 26"/>
          <p:cNvSpPr txBox="1"/>
          <p:nvPr/>
        </p:nvSpPr>
        <p:spPr bwMode="auto">
          <a:xfrm>
            <a:off x="3063240" y="5431536"/>
            <a:ext cx="1691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rPr/>
              <a:t>APPLICATION OUTPUT</a:t>
            </a:r>
            <a:endParaRPr/>
          </a:p>
        </p:txBody>
      </p:sp>
      <p:sp>
        <p:nvSpPr>
          <p:cNvPr id="1023135830" name="TextBox 27"/>
          <p:cNvSpPr txBox="1"/>
          <p:nvPr/>
        </p:nvSpPr>
        <p:spPr bwMode="auto">
          <a:xfrm>
            <a:off x="4709160" y="5431536"/>
            <a:ext cx="3337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rPr/>
              <a:t>Rendered static landing page</a:t>
            </a:r>
            <a:endParaRPr/>
          </a:p>
        </p:txBody>
      </p:sp>
      <p:sp>
        <p:nvSpPr>
          <p:cNvPr id="242243883" name="TextBox 28"/>
          <p:cNvSpPr txBox="1"/>
          <p:nvPr/>
        </p:nvSpPr>
        <p:spPr bwMode="auto">
          <a:xfrm>
            <a:off x="8001000" y="5431536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Browser</a:t>
            </a:r>
            <a:endParaRPr/>
          </a:p>
        </p:txBody>
      </p:sp>
      <p:sp>
        <p:nvSpPr>
          <p:cNvPr id="2084073093" name="Rectangle 29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9505931" name="TextBox 30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801714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2251155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4194420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METHODOLOGY</a:t>
            </a:r>
            <a:endParaRPr/>
          </a:p>
        </p:txBody>
      </p:sp>
      <p:sp>
        <p:nvSpPr>
          <p:cNvPr id="1495427530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The 4-task development journey</a:t>
            </a:r>
            <a:endParaRPr/>
          </a:p>
        </p:txBody>
      </p:sp>
      <p:sp>
        <p:nvSpPr>
          <p:cNvPr id="1236152581" name="Rounded Rectangle 5"/>
          <p:cNvSpPr/>
          <p:nvPr/>
        </p:nvSpPr>
        <p:spPr bwMode="auto">
          <a:xfrm>
            <a:off x="594360" y="1508759"/>
            <a:ext cx="2743200" cy="44805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076827" name="Rectangle 6"/>
          <p:cNvSpPr/>
          <p:nvPr/>
        </p:nvSpPr>
        <p:spPr bwMode="auto">
          <a:xfrm>
            <a:off x="594360" y="1508759"/>
            <a:ext cx="73152" cy="448056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5030952" name="TextBox 7"/>
          <p:cNvSpPr txBox="1"/>
          <p:nvPr/>
        </p:nvSpPr>
        <p:spPr bwMode="auto">
          <a:xfrm>
            <a:off x="822960" y="1673351"/>
            <a:ext cx="2331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Project Setup &amp; Semantic HTML</a:t>
            </a:r>
            <a:endParaRPr/>
          </a:p>
        </p:txBody>
      </p:sp>
      <p:sp>
        <p:nvSpPr>
          <p:cNvPr id="1012619727" name="TextBox 8"/>
          <p:cNvSpPr txBox="1"/>
          <p:nvPr/>
        </p:nvSpPr>
        <p:spPr bwMode="auto">
          <a:xfrm>
            <a:off x="822960" y="2075688"/>
            <a:ext cx="2331720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Created the project foundation, semantic elements, page sections, footer and internal anchor navigation.</a:t>
            </a:r>
            <a:endParaRPr/>
          </a:p>
        </p:txBody>
      </p:sp>
      <p:sp>
        <p:nvSpPr>
          <p:cNvPr id="1248249720" name="Oval 9"/>
          <p:cNvSpPr/>
          <p:nvPr/>
        </p:nvSpPr>
        <p:spPr bwMode="auto">
          <a:xfrm>
            <a:off x="758952" y="987552"/>
            <a:ext cx="566928" cy="566928"/>
          </a:xfrm>
          <a:prstGeom prst="ellipse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86856" name="TextBox 10"/>
          <p:cNvSpPr txBox="1"/>
          <p:nvPr/>
        </p:nvSpPr>
        <p:spPr bwMode="auto">
          <a:xfrm>
            <a:off x="758952" y="1133856"/>
            <a:ext cx="566928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1</a:t>
            </a:r>
            <a:endParaRPr/>
          </a:p>
        </p:txBody>
      </p:sp>
      <p:sp>
        <p:nvSpPr>
          <p:cNvPr id="2087761449" name="Rounded Rectangle 11"/>
          <p:cNvSpPr/>
          <p:nvPr/>
        </p:nvSpPr>
        <p:spPr bwMode="auto">
          <a:xfrm>
            <a:off x="3502152" y="1508759"/>
            <a:ext cx="2743200" cy="44805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7551641" name="Rectangle 12"/>
          <p:cNvSpPr/>
          <p:nvPr/>
        </p:nvSpPr>
        <p:spPr bwMode="auto">
          <a:xfrm>
            <a:off x="3502152" y="1508759"/>
            <a:ext cx="73152" cy="4480560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822724" name="TextBox 13"/>
          <p:cNvSpPr txBox="1"/>
          <p:nvPr/>
        </p:nvSpPr>
        <p:spPr bwMode="auto">
          <a:xfrm>
            <a:off x="3730752" y="1673351"/>
            <a:ext cx="2331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CSS Theme &amp; Styling</a:t>
            </a:r>
            <a:endParaRPr/>
          </a:p>
        </p:txBody>
      </p:sp>
      <p:sp>
        <p:nvSpPr>
          <p:cNvPr id="376417160" name="TextBox 14"/>
          <p:cNvSpPr txBox="1"/>
          <p:nvPr/>
        </p:nvSpPr>
        <p:spPr bwMode="auto">
          <a:xfrm>
            <a:off x="3730752" y="2075688"/>
            <a:ext cx="2331720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Added the dedicated stylesheet, theme variables, typography, colours, spacing, borders and layout rules.</a:t>
            </a:r>
            <a:endParaRPr/>
          </a:p>
        </p:txBody>
      </p:sp>
      <p:sp>
        <p:nvSpPr>
          <p:cNvPr id="611582232" name="Oval 15"/>
          <p:cNvSpPr/>
          <p:nvPr/>
        </p:nvSpPr>
        <p:spPr bwMode="auto">
          <a:xfrm>
            <a:off x="3666744" y="987552"/>
            <a:ext cx="566928" cy="566928"/>
          </a:xfrm>
          <a:prstGeom prst="ellipse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9328910" name="TextBox 16"/>
          <p:cNvSpPr txBox="1"/>
          <p:nvPr/>
        </p:nvSpPr>
        <p:spPr bwMode="auto">
          <a:xfrm>
            <a:off x="3666744" y="1133856"/>
            <a:ext cx="566928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2</a:t>
            </a:r>
            <a:endParaRPr/>
          </a:p>
        </p:txBody>
      </p:sp>
      <p:sp>
        <p:nvSpPr>
          <p:cNvPr id="117603390" name="Rounded Rectangle 17"/>
          <p:cNvSpPr/>
          <p:nvPr/>
        </p:nvSpPr>
        <p:spPr bwMode="auto">
          <a:xfrm>
            <a:off x="6409944" y="1508759"/>
            <a:ext cx="2743200" cy="44805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1521624" name="Rectangle 18"/>
          <p:cNvSpPr/>
          <p:nvPr/>
        </p:nvSpPr>
        <p:spPr bwMode="auto">
          <a:xfrm>
            <a:off x="6409944" y="1508759"/>
            <a:ext cx="73152" cy="448056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0509728" name="TextBox 19"/>
          <p:cNvSpPr txBox="1"/>
          <p:nvPr/>
        </p:nvSpPr>
        <p:spPr bwMode="auto">
          <a:xfrm>
            <a:off x="6638544" y="1673351"/>
            <a:ext cx="2331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Flexbox / Grid Responsiveness</a:t>
            </a:r>
            <a:endParaRPr/>
          </a:p>
        </p:txBody>
      </p:sp>
      <p:sp>
        <p:nvSpPr>
          <p:cNvPr id="2014041598" name="TextBox 20"/>
          <p:cNvSpPr txBox="1"/>
          <p:nvPr/>
        </p:nvSpPr>
        <p:spPr bwMode="auto">
          <a:xfrm>
            <a:off x="6638544" y="2075688"/>
            <a:ext cx="2331720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Introduced responsive grids, wrapping, media queries and layout adjustments for smaller screens.</a:t>
            </a:r>
            <a:endParaRPr/>
          </a:p>
        </p:txBody>
      </p:sp>
      <p:sp>
        <p:nvSpPr>
          <p:cNvPr id="564035056" name="Oval 21"/>
          <p:cNvSpPr/>
          <p:nvPr/>
        </p:nvSpPr>
        <p:spPr bwMode="auto">
          <a:xfrm>
            <a:off x="6574536" y="987552"/>
            <a:ext cx="566928" cy="566928"/>
          </a:xfrm>
          <a:prstGeom prst="ellipse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7857379" name="TextBox 22"/>
          <p:cNvSpPr txBox="1"/>
          <p:nvPr/>
        </p:nvSpPr>
        <p:spPr bwMode="auto">
          <a:xfrm>
            <a:off x="6574536" y="1133856"/>
            <a:ext cx="566928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3</a:t>
            </a:r>
            <a:endParaRPr/>
          </a:p>
        </p:txBody>
      </p:sp>
      <p:sp>
        <p:nvSpPr>
          <p:cNvPr id="807777398" name="Rounded Rectangle 23"/>
          <p:cNvSpPr/>
          <p:nvPr/>
        </p:nvSpPr>
        <p:spPr bwMode="auto">
          <a:xfrm>
            <a:off x="9317736" y="1508759"/>
            <a:ext cx="2743200" cy="448056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1503845" name="Rectangle 24"/>
          <p:cNvSpPr/>
          <p:nvPr/>
        </p:nvSpPr>
        <p:spPr bwMode="auto">
          <a:xfrm>
            <a:off x="9317736" y="1508759"/>
            <a:ext cx="73152" cy="4480560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399593" name="TextBox 25"/>
          <p:cNvSpPr txBox="1"/>
          <p:nvPr/>
        </p:nvSpPr>
        <p:spPr bwMode="auto">
          <a:xfrm>
            <a:off x="9546336" y="1673351"/>
            <a:ext cx="2331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Navigation &amp; Deployment</a:t>
            </a:r>
            <a:endParaRPr/>
          </a:p>
        </p:txBody>
      </p:sp>
      <p:sp>
        <p:nvSpPr>
          <p:cNvPr id="802399749" name="TextBox 26"/>
          <p:cNvSpPr txBox="1"/>
          <p:nvPr/>
        </p:nvSpPr>
        <p:spPr bwMode="auto">
          <a:xfrm>
            <a:off x="9546336" y="2075688"/>
            <a:ext cx="2331720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Added the hamburger menu with Vanilla JavaScript, cleaned the CSS and prepared the static project for hosting.</a:t>
            </a:r>
            <a:endParaRPr/>
          </a:p>
        </p:txBody>
      </p:sp>
      <p:sp>
        <p:nvSpPr>
          <p:cNvPr id="1582384969" name="Oval 27"/>
          <p:cNvSpPr/>
          <p:nvPr/>
        </p:nvSpPr>
        <p:spPr bwMode="auto">
          <a:xfrm>
            <a:off x="9482328" y="987552"/>
            <a:ext cx="566928" cy="566928"/>
          </a:xfrm>
          <a:prstGeom prst="ellipse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6669711" name="TextBox 28"/>
          <p:cNvSpPr txBox="1"/>
          <p:nvPr/>
        </p:nvSpPr>
        <p:spPr bwMode="auto">
          <a:xfrm>
            <a:off x="9482328" y="1133856"/>
            <a:ext cx="566928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/>
              <a:t>4</a:t>
            </a:r>
            <a:endParaRPr/>
          </a:p>
        </p:txBody>
      </p:sp>
      <p:sp>
        <p:nvSpPr>
          <p:cNvPr id="1459287177" name="Rectangle 29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8577165" name="TextBox 30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56044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8883888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9746866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EXPECTED OUTCOMES</a:t>
            </a:r>
            <a:endParaRPr/>
          </a:p>
        </p:txBody>
      </p:sp>
      <p:sp>
        <p:nvSpPr>
          <p:cNvPr id="2023486959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Skills and capabilities developed</a:t>
            </a:r>
            <a:endParaRPr/>
          </a:p>
        </p:txBody>
      </p:sp>
      <p:sp>
        <p:nvSpPr>
          <p:cNvPr id="1785620468" name="TextBox 5"/>
          <p:cNvSpPr txBox="1"/>
          <p:nvPr/>
        </p:nvSpPr>
        <p:spPr bwMode="auto">
          <a:xfrm>
            <a:off x="868680" y="1417320"/>
            <a:ext cx="10424160" cy="4663440"/>
          </a:xfrm>
          <a:prstGeom prst="rect">
            <a:avLst/>
          </a:prstGeom>
          <a:noFill/>
        </p:spPr>
        <p:txBody>
          <a:bodyPr wrap="square" lIns="54864" rIns="27432">
            <a:spAutoFit/>
          </a:bodyPr>
          <a:lstStyle/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Explain the role of semantic HTML in structuring a landing page.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Apply CSS variables, typography, spacing and layout techniques in a maintainable stylesheet.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Use Flexbox and CSS Grid to create flexible page layouts.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Use media queries to adapt content for desktop, tablet and mobile viewports.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Implement basic DOM interaction through JavaScript event listeners.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Build a responsive hamburger navigation without a front-end framework.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Understand the structure and deployment requirements of a static website.</a:t>
            </a:r>
            <a:endParaRPr/>
          </a:p>
          <a:p>
            <a:pPr>
              <a:spcAft>
                <a:spcPts val="1000"/>
              </a:spcAft>
              <a:buChar char="•"/>
              <a:defRPr sz="1500">
                <a:solidFill>
                  <a:srgbClr val="232A32"/>
                </a:solidFill>
                <a:latin typeface="Aptos"/>
              </a:defRPr>
            </a:pPr>
            <a:r>
              <a:rPr/>
              <a:t>Document a front-end project from requirements through completion.</a:t>
            </a:r>
            <a:endParaRPr/>
          </a:p>
        </p:txBody>
      </p:sp>
      <p:sp>
        <p:nvSpPr>
          <p:cNvPr id="1714322690" name="Rectangle 6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2227680" name="TextBox 7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023680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829999" name="Rectangle 2"/>
          <p:cNvSpPr/>
          <p:nvPr/>
        </p:nvSpPr>
        <p:spPr bwMode="auto">
          <a:xfrm>
            <a:off x="0" y="0"/>
            <a:ext cx="12191999" cy="109728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873562" name="TextBox 3"/>
          <p:cNvSpPr txBox="1"/>
          <p:nvPr/>
        </p:nvSpPr>
        <p:spPr bwMode="auto"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45C"/>
                </a:solidFill>
                <a:latin typeface="Aptos Display"/>
              </a:defRPr>
            </a:pPr>
            <a:r>
              <a:rPr/>
              <a:t>CERTIFICATION</a:t>
            </a:r>
            <a:endParaRPr/>
          </a:p>
        </p:txBody>
      </p:sp>
      <p:sp>
        <p:nvSpPr>
          <p:cNvPr id="251730960" name="TextBox 4"/>
          <p:cNvSpPr txBox="1"/>
          <p:nvPr/>
        </p:nvSpPr>
        <p:spPr bwMode="auto">
          <a:xfrm>
            <a:off x="612648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D"/>
                </a:solidFill>
                <a:latin typeface="Aptos"/>
              </a:defRPr>
            </a:pPr>
            <a:r>
              <a:rPr/>
              <a:t>Internship completion evidence</a:t>
            </a:r>
            <a:endParaRPr/>
          </a:p>
        </p:txBody>
      </p:sp>
      <p:pic>
        <p:nvPicPr>
          <p:cNvPr id="1666865609" name="Picture 5" descr="aman_certificat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68640" y="1234440"/>
            <a:ext cx="7054413" cy="4983480"/>
          </a:xfrm>
          <a:prstGeom prst="rect">
            <a:avLst/>
          </a:prstGeom>
        </p:spPr>
      </p:pic>
      <p:sp>
        <p:nvSpPr>
          <p:cNvPr id="582476170" name="TextBox 6"/>
          <p:cNvSpPr txBox="1"/>
          <p:nvPr/>
        </p:nvSpPr>
        <p:spPr bwMode="auto">
          <a:xfrm>
            <a:off x="640080" y="6144768"/>
            <a:ext cx="1092707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>
                <a:solidFill>
                  <a:srgbClr val="66707D"/>
                </a:solidFill>
                <a:latin typeface="Aptos"/>
              </a:defRPr>
            </a:pPr>
            <a:r>
              <a:rPr/>
              <a:t>Certificate ID: JI-2026-000017  •  Internship: HTML &amp; CSS RESPONSIVE LANDING PAGE  •  21st Aug – 03rd Sep 2026</a:t>
            </a:r>
            <a:endParaRPr/>
          </a:p>
        </p:txBody>
      </p:sp>
      <p:sp>
        <p:nvSpPr>
          <p:cNvPr id="3710469" name="Rectangle 7"/>
          <p:cNvSpPr/>
          <p:nvPr/>
        </p:nvSpPr>
        <p:spPr bwMode="auto">
          <a:xfrm>
            <a:off x="594360" y="6473952"/>
            <a:ext cx="11018520" cy="9144"/>
          </a:xfrm>
          <a:prstGeom prst="rect">
            <a:avLst/>
          </a:prstGeom>
          <a:solidFill>
            <a:srgbClr val="E0E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6542136" name="TextBox 8"/>
          <p:cNvSpPr txBox="1"/>
          <p:nvPr/>
        </p:nvSpPr>
        <p:spPr bwMode="auto">
          <a:xfrm>
            <a:off x="640080" y="651052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7D"/>
                </a:solidFill>
                <a:latin typeface="Aptos"/>
              </a:defRPr>
            </a:pPr>
            <a:r>
              <a:rPr/>
              <a:t>HTML &amp; CSS Responsive Landing Page  •  Aman Khan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135125" name="Rectangle 1"/>
          <p:cNvSpPr/>
          <p:nvPr/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rgbClr val="183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275883" name="TextBox 2"/>
          <p:cNvSpPr txBox="1"/>
          <p:nvPr/>
        </p:nvSpPr>
        <p:spPr bwMode="auto">
          <a:xfrm>
            <a:off x="731520" y="1051560"/>
            <a:ext cx="10698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rPr/>
              <a:t>THANK YOU</a:t>
            </a:r>
            <a:endParaRPr/>
          </a:p>
        </p:txBody>
      </p:sp>
      <p:sp>
        <p:nvSpPr>
          <p:cNvPr id="444038242" name="TextBox 3"/>
          <p:cNvSpPr txBox="1"/>
          <p:nvPr/>
        </p:nvSpPr>
        <p:spPr bwMode="auto">
          <a:xfrm>
            <a:off x="1097280" y="1874519"/>
            <a:ext cx="9966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/>
              <a:t>HTML &amp; CSS Responsive Landing Page</a:t>
            </a:r>
            <a:endParaRPr/>
          </a:p>
        </p:txBody>
      </p:sp>
      <p:sp>
        <p:nvSpPr>
          <p:cNvPr id="371931001" name="TextBox 4"/>
          <p:cNvSpPr txBox="1"/>
          <p:nvPr/>
        </p:nvSpPr>
        <p:spPr bwMode="auto">
          <a:xfrm>
            <a:off x="1097280" y="2468880"/>
            <a:ext cx="9966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0">
                <a:solidFill>
                  <a:srgbClr val="DCE4F0"/>
                </a:solidFill>
                <a:latin typeface="Aptos"/>
              </a:defRPr>
            </a:pPr>
            <a:r>
              <a:rPr/>
              <a:t>Internship Presentation • Aman Khan</a:t>
            </a:r>
            <a:endParaRPr/>
          </a:p>
        </p:txBody>
      </p:sp>
      <p:sp>
        <p:nvSpPr>
          <p:cNvPr id="1299544539" name="Rounded Rectangle 5"/>
          <p:cNvSpPr/>
          <p:nvPr/>
        </p:nvSpPr>
        <p:spPr bwMode="auto">
          <a:xfrm>
            <a:off x="1828800" y="3337560"/>
            <a:ext cx="2514600" cy="1508759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1948774" name="Rectangle 6"/>
          <p:cNvSpPr/>
          <p:nvPr/>
        </p:nvSpPr>
        <p:spPr bwMode="auto">
          <a:xfrm>
            <a:off x="1828800" y="3337560"/>
            <a:ext cx="73152" cy="1508759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5877097" name="TextBox 7"/>
          <p:cNvSpPr txBox="1"/>
          <p:nvPr/>
        </p:nvSpPr>
        <p:spPr bwMode="auto">
          <a:xfrm>
            <a:off x="2057400" y="3502152"/>
            <a:ext cx="2103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STRUCTURE</a:t>
            </a:r>
            <a:endParaRPr/>
          </a:p>
        </p:txBody>
      </p:sp>
      <p:sp>
        <p:nvSpPr>
          <p:cNvPr id="1992664474" name="TextBox 8"/>
          <p:cNvSpPr txBox="1"/>
          <p:nvPr/>
        </p:nvSpPr>
        <p:spPr bwMode="auto">
          <a:xfrm>
            <a:off x="2057400" y="3904487"/>
            <a:ext cx="2103120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Semantic HTML5</a:t>
            </a:r>
            <a:endParaRPr/>
          </a:p>
        </p:txBody>
      </p:sp>
      <p:sp>
        <p:nvSpPr>
          <p:cNvPr id="147229551" name="Rounded Rectangle 9"/>
          <p:cNvSpPr/>
          <p:nvPr/>
        </p:nvSpPr>
        <p:spPr bwMode="auto">
          <a:xfrm>
            <a:off x="4663440" y="3337560"/>
            <a:ext cx="2514600" cy="1508759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7748324" name="Rectangle 10"/>
          <p:cNvSpPr/>
          <p:nvPr/>
        </p:nvSpPr>
        <p:spPr bwMode="auto">
          <a:xfrm>
            <a:off x="4663440" y="3337560"/>
            <a:ext cx="73152" cy="1508759"/>
          </a:xfrm>
          <a:prstGeom prst="rect">
            <a:avLst/>
          </a:prstGeom>
          <a:solidFill>
            <a:srgbClr val="2D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6571093" name="TextBox 11"/>
          <p:cNvSpPr txBox="1"/>
          <p:nvPr/>
        </p:nvSpPr>
        <p:spPr bwMode="auto">
          <a:xfrm>
            <a:off x="4892039" y="3502152"/>
            <a:ext cx="2103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DESIGN</a:t>
            </a:r>
            <a:endParaRPr/>
          </a:p>
        </p:txBody>
      </p:sp>
      <p:sp>
        <p:nvSpPr>
          <p:cNvPr id="662616905" name="TextBox 12"/>
          <p:cNvSpPr txBox="1"/>
          <p:nvPr/>
        </p:nvSpPr>
        <p:spPr bwMode="auto">
          <a:xfrm>
            <a:off x="4892039" y="3904487"/>
            <a:ext cx="2103120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CSS3 + Responsive Layout</a:t>
            </a:r>
            <a:endParaRPr/>
          </a:p>
        </p:txBody>
      </p:sp>
      <p:sp>
        <p:nvSpPr>
          <p:cNvPr id="1131334874" name="Rounded Rectangle 13"/>
          <p:cNvSpPr/>
          <p:nvPr/>
        </p:nvSpPr>
        <p:spPr bwMode="auto">
          <a:xfrm>
            <a:off x="7498079" y="3337560"/>
            <a:ext cx="2514600" cy="1508759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187071" name="Rectangle 14"/>
          <p:cNvSpPr/>
          <p:nvPr/>
        </p:nvSpPr>
        <p:spPr bwMode="auto">
          <a:xfrm>
            <a:off x="7498079" y="3337560"/>
            <a:ext cx="73152" cy="1508759"/>
          </a:xfrm>
          <a:prstGeom prst="rect">
            <a:avLst/>
          </a:prstGeom>
          <a:solidFill>
            <a:srgbClr val="B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7246729" name="TextBox 15"/>
          <p:cNvSpPr txBox="1"/>
          <p:nvPr/>
        </p:nvSpPr>
        <p:spPr bwMode="auto">
          <a:xfrm>
            <a:off x="7726679" y="3502152"/>
            <a:ext cx="2103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8345C"/>
                </a:solidFill>
                <a:latin typeface="Aptos"/>
              </a:defRPr>
            </a:pPr>
            <a:r>
              <a:rPr/>
              <a:t>INTERACTION</a:t>
            </a:r>
            <a:endParaRPr/>
          </a:p>
        </p:txBody>
      </p:sp>
      <p:sp>
        <p:nvSpPr>
          <p:cNvPr id="939132161" name="TextBox 16"/>
          <p:cNvSpPr txBox="1"/>
          <p:nvPr/>
        </p:nvSpPr>
        <p:spPr bwMode="auto">
          <a:xfrm>
            <a:off x="7726679" y="3904487"/>
            <a:ext cx="2103120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0">
                <a:solidFill>
                  <a:srgbClr val="232A32"/>
                </a:solidFill>
                <a:latin typeface="Aptos"/>
              </a:defRPr>
            </a:pPr>
            <a:r>
              <a:rPr/>
              <a:t>Vanilla JavaScript</a:t>
            </a:r>
            <a:endParaRPr/>
          </a:p>
        </p:txBody>
      </p:sp>
      <p:sp>
        <p:nvSpPr>
          <p:cNvPr id="355841961" name="TextBox 17"/>
          <p:cNvSpPr txBox="1"/>
          <p:nvPr/>
        </p:nvSpPr>
        <p:spPr bwMode="auto"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0">
                <a:solidFill>
                  <a:srgbClr val="D2DCEB"/>
                </a:solidFill>
                <a:latin typeface="Aptos"/>
              </a:defRPr>
            </a:pPr>
            <a:r>
              <a:rPr/>
              <a:t>IILM University, Greater Noida  •  B.Tech CSE  •  2026–27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2026-09-06T15:03:29Z</dcterms:modified>
  <cp:category/>
</cp:coreProperties>
</file>